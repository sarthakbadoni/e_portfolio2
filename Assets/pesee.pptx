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3" r:id="rId6"/>
    <p:sldId id="264" r:id="rId7"/>
    <p:sldId id="265"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91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25624-A82C-39FA-515A-8A22B64E93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657929-BA46-F012-38E5-32199EAA6B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99B669-7B22-2C7B-BD7E-369540379B7D}"/>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5" name="Footer Placeholder 4">
            <a:extLst>
              <a:ext uri="{FF2B5EF4-FFF2-40B4-BE49-F238E27FC236}">
                <a16:creationId xmlns:a16="http://schemas.microsoft.com/office/drawing/2014/main" id="{EC812E3A-8491-29E2-9267-7A6F8EDEE9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8A4B3D-C544-B9D8-CBF8-82E0DFCBF38A}"/>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3700723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8C93-83B9-FECC-C8AE-6590DEB3F3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F98314-CB85-D6B4-7CDE-77F4CDDD8F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C0C059-56E1-6EE5-3A48-760C312ABF75}"/>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5" name="Footer Placeholder 4">
            <a:extLst>
              <a:ext uri="{FF2B5EF4-FFF2-40B4-BE49-F238E27FC236}">
                <a16:creationId xmlns:a16="http://schemas.microsoft.com/office/drawing/2014/main" id="{972C37BE-196E-8B3A-9B97-9BF9C17E26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BBBAAA-47D2-C800-1FB0-4269335C9EC0}"/>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3048626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09B31-D788-EB9D-0D57-ABE5312BA4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ABFF9B0-C775-B769-7AA8-3485EE2AE4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3A4598-EDDB-CE53-7D87-FE5235688FE3}"/>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5" name="Footer Placeholder 4">
            <a:extLst>
              <a:ext uri="{FF2B5EF4-FFF2-40B4-BE49-F238E27FC236}">
                <a16:creationId xmlns:a16="http://schemas.microsoft.com/office/drawing/2014/main" id="{46271B61-9A7A-3789-DBE2-31B4EFCCD8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04E12B-F99D-E9AE-D33F-6A674C89E909}"/>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216413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7A83-939A-72D3-9C51-801D9BE14F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890028-8BB1-C236-6612-F0704BAB8C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45185E-F6D4-5227-E94F-B75578F018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6348F7-DBC1-93F3-3AED-7AF69DDAF109}"/>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6" name="Footer Placeholder 5">
            <a:extLst>
              <a:ext uri="{FF2B5EF4-FFF2-40B4-BE49-F238E27FC236}">
                <a16:creationId xmlns:a16="http://schemas.microsoft.com/office/drawing/2014/main" id="{3CEFAA31-1C00-2BE5-3597-5A6A01064C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CD5E27-1243-ECAE-5CD3-EBC497DC4680}"/>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422700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44E0B-BE72-496D-DDD8-51D94EBAD8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E53FFD-CDEC-D383-1A11-FA18EB16F1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6B419A-4B7F-6AE6-5730-771C8B39D9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60CF0F-039D-3B0E-F2E4-57685EC629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BE4907-9DDC-6825-F510-2EDB342864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F15381-98AF-8B38-DB99-3900F73A7496}"/>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8" name="Footer Placeholder 7">
            <a:extLst>
              <a:ext uri="{FF2B5EF4-FFF2-40B4-BE49-F238E27FC236}">
                <a16:creationId xmlns:a16="http://schemas.microsoft.com/office/drawing/2014/main" id="{4DBDB58E-2EA4-6855-148A-E36F196C0E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23B4A97-687E-4712-0E09-FA4B7BFB6146}"/>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722547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CCC2F-6DB0-42B1-8E5B-2C9ED0CE6A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9F4C4-39BE-CD1F-8210-2C1DB392929E}"/>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4" name="Footer Placeholder 3">
            <a:extLst>
              <a:ext uri="{FF2B5EF4-FFF2-40B4-BE49-F238E27FC236}">
                <a16:creationId xmlns:a16="http://schemas.microsoft.com/office/drawing/2014/main" id="{EA47D915-281F-5989-5703-67A1602E420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EED561D-61B3-289B-E4A4-151C1FCAE7AD}"/>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3953592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EF0429-D48B-51F0-52C3-B03B98E3DEFD}"/>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3" name="Footer Placeholder 2">
            <a:extLst>
              <a:ext uri="{FF2B5EF4-FFF2-40B4-BE49-F238E27FC236}">
                <a16:creationId xmlns:a16="http://schemas.microsoft.com/office/drawing/2014/main" id="{C2D0F530-A1EB-24F7-6470-25D0D5576F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78B58C-7204-4977-A3EB-8D785E505AAB}"/>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3431634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2A13-B86C-3BDD-72E2-4E64CC3500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E82D99-A418-98EA-87A8-DCB7CBC839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DE5BDFB-5111-7B7E-E2FB-EFF2E7241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047AF9-CF5B-0024-3FF9-02C11EFB4C3D}"/>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6" name="Footer Placeholder 5">
            <a:extLst>
              <a:ext uri="{FF2B5EF4-FFF2-40B4-BE49-F238E27FC236}">
                <a16:creationId xmlns:a16="http://schemas.microsoft.com/office/drawing/2014/main" id="{498E47EC-0687-C0BF-AFE5-576FC7E3B2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D7A385-2BEA-B7C5-0A11-05E8AEC1FF58}"/>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1651328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12CD2-B294-D0AC-F1BA-A5CB504F01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B797CD5-0229-E319-D209-2A6A4EDEC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84C1C2-3667-8B67-AB83-A3E6CDA192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8CE7D4-4277-042B-B7EA-977664592167}"/>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6" name="Footer Placeholder 5">
            <a:extLst>
              <a:ext uri="{FF2B5EF4-FFF2-40B4-BE49-F238E27FC236}">
                <a16:creationId xmlns:a16="http://schemas.microsoft.com/office/drawing/2014/main" id="{1D3F1BD6-9EAE-2492-6A6B-F26FF97E63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D2CD0F-F3C8-AE0A-0195-F701D184A3D9}"/>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1618776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DF042-10A0-B9F1-FD69-0A36B27015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33111A-6707-80A1-82E6-05772CDCC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D1D288-2327-EB08-01B0-6AE0A5FE6CAE}"/>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5" name="Footer Placeholder 4">
            <a:extLst>
              <a:ext uri="{FF2B5EF4-FFF2-40B4-BE49-F238E27FC236}">
                <a16:creationId xmlns:a16="http://schemas.microsoft.com/office/drawing/2014/main" id="{D2699C32-1050-2A6C-2645-5F241DEC0E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DC93A5-F145-6877-65F7-28E0396D5BC7}"/>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4198899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4CDCAD-480C-E4DF-F9C4-8C6B6B5D7B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874CD9-B62B-7F6B-8525-50B7F3F6CD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0883E8-09D3-8A6C-BB50-4CFB71B08F43}"/>
              </a:ext>
            </a:extLst>
          </p:cNvPr>
          <p:cNvSpPr>
            <a:spLocks noGrp="1"/>
          </p:cNvSpPr>
          <p:nvPr>
            <p:ph type="dt" sz="half" idx="10"/>
          </p:nvPr>
        </p:nvSpPr>
        <p:spPr/>
        <p:txBody>
          <a:bodyPr/>
          <a:lstStyle/>
          <a:p>
            <a:fld id="{24E0B3C9-E3AA-458A-949F-BFC8058A6CA2}" type="datetimeFigureOut">
              <a:rPr lang="en-IN" smtClean="0"/>
              <a:t>10-11-2025</a:t>
            </a:fld>
            <a:endParaRPr lang="en-IN"/>
          </a:p>
        </p:txBody>
      </p:sp>
      <p:sp>
        <p:nvSpPr>
          <p:cNvPr id="5" name="Footer Placeholder 4">
            <a:extLst>
              <a:ext uri="{FF2B5EF4-FFF2-40B4-BE49-F238E27FC236}">
                <a16:creationId xmlns:a16="http://schemas.microsoft.com/office/drawing/2014/main" id="{6C1CFEA7-F8B0-0DB1-DFC6-664292471A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4EC744-21AE-5B78-F71E-D2C223443396}"/>
              </a:ext>
            </a:extLst>
          </p:cNvPr>
          <p:cNvSpPr>
            <a:spLocks noGrp="1"/>
          </p:cNvSpPr>
          <p:nvPr>
            <p:ph type="sldNum" sz="quarter" idx="12"/>
          </p:nvPr>
        </p:nvSpPr>
        <p:spPr/>
        <p:txBody>
          <a:bodyPr/>
          <a:lstStyle/>
          <a:p>
            <a:fld id="{D29E25AE-A5EF-4D27-9BBA-024E9D2F20D5}" type="slidenum">
              <a:rPr lang="en-IN" smtClean="0"/>
              <a:t>‹#›</a:t>
            </a:fld>
            <a:endParaRPr lang="en-IN"/>
          </a:p>
        </p:txBody>
      </p:sp>
    </p:spTree>
    <p:extLst>
      <p:ext uri="{BB962C8B-B14F-4D97-AF65-F5344CB8AC3E}">
        <p14:creationId xmlns:p14="http://schemas.microsoft.com/office/powerpoint/2010/main" val="38216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1141F-6890-4BC7-1E87-A2B033F341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1602C0-4FAE-E2E8-7A93-58CFF888AC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A8CE71-65EB-94F5-5F4B-CA241302C7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E0B3C9-E3AA-458A-949F-BFC8058A6CA2}" type="datetimeFigureOut">
              <a:rPr lang="en-IN" smtClean="0"/>
              <a:t>10-11-2025</a:t>
            </a:fld>
            <a:endParaRPr lang="en-IN"/>
          </a:p>
        </p:txBody>
      </p:sp>
      <p:sp>
        <p:nvSpPr>
          <p:cNvPr id="5" name="Footer Placeholder 4">
            <a:extLst>
              <a:ext uri="{FF2B5EF4-FFF2-40B4-BE49-F238E27FC236}">
                <a16:creationId xmlns:a16="http://schemas.microsoft.com/office/drawing/2014/main" id="{A273D249-A996-9C98-34C6-4B83C8C46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D6E764D-D89D-1BC7-3714-4C5EFDEC65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9E25AE-A5EF-4D27-9BBA-024E9D2F20D5}" type="slidenum">
              <a:rPr lang="en-IN" smtClean="0"/>
              <a:t>‹#›</a:t>
            </a:fld>
            <a:endParaRPr lang="en-IN"/>
          </a:p>
        </p:txBody>
      </p:sp>
    </p:spTree>
    <p:extLst>
      <p:ext uri="{BB962C8B-B14F-4D97-AF65-F5344CB8AC3E}">
        <p14:creationId xmlns:p14="http://schemas.microsoft.com/office/powerpoint/2010/main" val="1694454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icciano.commons.gc.cuny.edu/2020/07/02/national-research-cloud-coming-would-spur-artificial-intelligence-development/" TargetMode="External" /><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3" Type="http://schemas.openxmlformats.org/officeDocument/2006/relationships/hyperlink" Target="http://thesecretrealtruth.blogspot.com/2015/08/server-google-google-server.html" TargetMode="External" /><Relationship Id="rId2" Type="http://schemas.openxmlformats.org/officeDocument/2006/relationships/image" Target="../media/image2.jpe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A0DF737-AC0C-73D3-AA9A-4DDF66DFC7E3}"/>
              </a:ext>
            </a:extLst>
          </p:cNvPr>
          <p:cNvPicPr>
            <a:picLocks noChangeAspect="1"/>
          </p:cNvPicPr>
          <p:nvPr/>
        </p:nvPicPr>
        <p:blipFill>
          <a:blip r:embed="rId2">
            <a:extLst>
              <a:ext uri="{837473B0-CC2E-450A-ABE3-18F120FF3D39}">
                <a1611:picAttrSrcUrl xmlns:a1611="http://schemas.microsoft.com/office/drawing/2016/11/main" r:id="rId3"/>
              </a:ext>
            </a:extLst>
          </a:blip>
          <a:srcRect l="7867" r="7867"/>
          <a:stretch>
            <a:fillRect/>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4A3F33-BBE4-40AF-CEE8-6E1EEF2C720C}"/>
              </a:ext>
            </a:extLst>
          </p:cNvPr>
          <p:cNvSpPr>
            <a:spLocks noGrp="1"/>
          </p:cNvSpPr>
          <p:nvPr>
            <p:ph type="ctrTitle"/>
          </p:nvPr>
        </p:nvSpPr>
        <p:spPr>
          <a:xfrm>
            <a:off x="477981" y="1122363"/>
            <a:ext cx="4023360" cy="3204134"/>
          </a:xfrm>
        </p:spPr>
        <p:txBody>
          <a:bodyPr anchor="b">
            <a:normAutofit/>
          </a:bodyPr>
          <a:lstStyle/>
          <a:p>
            <a:pPr algn="l"/>
            <a:r>
              <a:rPr lang="en-US" sz="4400" b="1" dirty="0">
                <a:latin typeface="Times New Roman"/>
                <a:cs typeface="Times New Roman"/>
              </a:rPr>
              <a:t>Title: Solving Modern IT Challenges with Cloud Computing</a:t>
            </a:r>
            <a:endParaRPr lang="en-IN" sz="4400" b="1" dirty="0">
              <a:latin typeface="Times New Roman"/>
              <a:cs typeface="Times New Roman"/>
            </a:endParaRP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E074B12-84FC-5211-1475-BBD483A2ACAD}"/>
              </a:ext>
            </a:extLst>
          </p:cNvPr>
          <p:cNvSpPr txBox="1"/>
          <p:nvPr/>
        </p:nvSpPr>
        <p:spPr>
          <a:xfrm>
            <a:off x="3524250" y="6858000"/>
            <a:ext cx="8667750" cy="317500"/>
          </a:xfrm>
          <a:prstGeom prst="rect">
            <a:avLst/>
          </a:prstGeom>
        </p:spPr>
        <p:txBody>
          <a:bodyPr>
            <a:normAutofit fontScale="92500" lnSpcReduction="20000"/>
          </a:bodyPr>
          <a:lstStyle/>
          <a:p>
            <a:r>
              <a:rPr lang="en-US"/>
              <a:t>ThePhoto by PhotoAuthor is licensed under CCYYSA.</a:t>
            </a:r>
          </a:p>
        </p:txBody>
      </p:sp>
    </p:spTree>
    <p:extLst>
      <p:ext uri="{BB962C8B-B14F-4D97-AF65-F5344CB8AC3E}">
        <p14:creationId xmlns:p14="http://schemas.microsoft.com/office/powerpoint/2010/main" val="3512030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5" name="Rectangle 94">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CE69E1-8AB9-FD7C-900E-731BEE6DF144}"/>
              </a:ext>
            </a:extLst>
          </p:cNvPr>
          <p:cNvSpPr>
            <a:spLocks noGrp="1"/>
          </p:cNvSpPr>
          <p:nvPr>
            <p:ph type="ctrTitle"/>
          </p:nvPr>
        </p:nvSpPr>
        <p:spPr>
          <a:xfrm>
            <a:off x="841248" y="426720"/>
            <a:ext cx="10506456" cy="1919141"/>
          </a:xfrm>
        </p:spPr>
        <p:txBody>
          <a:bodyPr vert="horz" lIns="91440" tIns="45720" rIns="91440" bIns="45720" rtlCol="0" anchor="b">
            <a:normAutofit/>
          </a:bodyPr>
          <a:lstStyle/>
          <a:p>
            <a:pPr algn="l"/>
            <a:r>
              <a:rPr lang="en-US" sz="3200" b="1" kern="1200" dirty="0">
                <a:latin typeface="+mj-lt"/>
                <a:ea typeface="+mj-ea"/>
                <a:cs typeface="+mj-cs"/>
              </a:rPr>
              <a:t>Modern IT Challenges Facing Organizations:</a:t>
            </a:r>
            <a:br>
              <a:rPr lang="en-US" sz="3200" b="1" dirty="0"/>
            </a:br>
            <a:endParaRPr lang="en-US" sz="3200" b="1" kern="1200">
              <a:ea typeface="Calibri Light"/>
              <a:cs typeface="Calibri Light"/>
            </a:endParaRPr>
          </a:p>
        </p:txBody>
      </p:sp>
      <p:sp>
        <p:nvSpPr>
          <p:cNvPr id="96" name="Rectangle 9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7" name="Rectangle 9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7C0490D9-D0B7-AC2E-F5C4-57EB54F41DB2}"/>
              </a:ext>
            </a:extLst>
          </p:cNvPr>
          <p:cNvSpPr>
            <a:spLocks noGrp="1"/>
          </p:cNvSpPr>
          <p:nvPr>
            <p:ph type="subTitle" idx="1"/>
          </p:nvPr>
        </p:nvSpPr>
        <p:spPr>
          <a:xfrm>
            <a:off x="870002" y="3207873"/>
            <a:ext cx="10466373" cy="3035082"/>
          </a:xfrm>
        </p:spPr>
        <p:txBody>
          <a:bodyPr vert="horz" lIns="91440" tIns="45720" rIns="91440" bIns="45720" rtlCol="0" anchor="t">
            <a:normAutofit fontScale="92500" lnSpcReduction="20000"/>
          </a:bodyPr>
          <a:lstStyle/>
          <a:p>
            <a:pPr indent="-228600" algn="l">
              <a:buFont typeface="Arial" panose="020B0604020202020204" pitchFamily="34" charset="0"/>
              <a:buChar char="•"/>
            </a:pPr>
            <a:r>
              <a:rPr lang="en-US" sz="1800" dirty="0"/>
              <a:t>Today’s organizations face a complex array of IT challenges, including:</a:t>
            </a:r>
            <a:endParaRPr lang="en-US" sz="1800" dirty="0">
              <a:ea typeface="Calibri"/>
              <a:cs typeface="Calibri"/>
            </a:endParaRPr>
          </a:p>
          <a:p>
            <a:pPr indent="-228600" algn="l">
              <a:buFont typeface="Arial" panose="020B0604020202020204" pitchFamily="34" charset="0"/>
              <a:buChar char="•"/>
            </a:pPr>
            <a:endParaRPr lang="en-US" sz="1800" dirty="0">
              <a:ea typeface="Calibri"/>
              <a:cs typeface="Calibri"/>
            </a:endParaRPr>
          </a:p>
          <a:p>
            <a:pPr marL="342900" indent="-228600" algn="l">
              <a:buFont typeface="Arial" panose="020B0604020202020204" pitchFamily="34" charset="0"/>
              <a:buChar char="•"/>
            </a:pPr>
            <a:r>
              <a:rPr lang="en-US" sz="1800" dirty="0"/>
              <a:t>Managing rapidly growing volumes of data</a:t>
            </a:r>
            <a:endParaRPr lang="en-US" sz="1800" dirty="0">
              <a:ea typeface="Calibri"/>
              <a:cs typeface="Calibri"/>
            </a:endParaRPr>
          </a:p>
          <a:p>
            <a:pPr marL="342900" indent="-228600" algn="l">
              <a:buFont typeface="Arial" panose="020B0604020202020204" pitchFamily="34" charset="0"/>
              <a:buChar char="•"/>
            </a:pPr>
            <a:r>
              <a:rPr lang="en-US" sz="1800" dirty="0"/>
              <a:t>Ensuring the security and privacy of digital assets</a:t>
            </a:r>
            <a:endParaRPr lang="en-US" sz="1800" dirty="0">
              <a:ea typeface="Calibri"/>
              <a:cs typeface="Calibri"/>
            </a:endParaRPr>
          </a:p>
          <a:p>
            <a:pPr marL="342900" indent="-228600" algn="l">
              <a:buFont typeface="Arial" panose="020B0604020202020204" pitchFamily="34" charset="0"/>
              <a:buChar char="•"/>
            </a:pPr>
            <a:r>
              <a:rPr lang="en-US" sz="1800" dirty="0"/>
              <a:t>Supporting global business operations and remote workforces</a:t>
            </a:r>
            <a:endParaRPr lang="en-US" sz="1800" dirty="0">
              <a:ea typeface="Calibri"/>
              <a:cs typeface="Calibri"/>
            </a:endParaRPr>
          </a:p>
          <a:p>
            <a:pPr marL="342900" indent="-228600" algn="l">
              <a:buFont typeface="Arial" panose="020B0604020202020204" pitchFamily="34" charset="0"/>
              <a:buChar char="•"/>
            </a:pPr>
            <a:r>
              <a:rPr lang="en-US" sz="1800" dirty="0"/>
              <a:t>Scaling infrastructure quickly as business needs change</a:t>
            </a:r>
            <a:endParaRPr lang="en-US" sz="1800" dirty="0">
              <a:ea typeface="Calibri"/>
              <a:cs typeface="Calibri"/>
            </a:endParaRPr>
          </a:p>
          <a:p>
            <a:pPr marL="342900" indent="-228600" algn="l">
              <a:buFont typeface="Arial" panose="020B0604020202020204" pitchFamily="34" charset="0"/>
              <a:buChar char="•"/>
            </a:pPr>
            <a:r>
              <a:rPr lang="en-US" sz="1800" dirty="0"/>
              <a:t>Controlling costs and improving operational efficiency</a:t>
            </a:r>
            <a:endParaRPr lang="en-US" sz="1800" dirty="0">
              <a:ea typeface="Calibri"/>
              <a:cs typeface="Calibri"/>
            </a:endParaRPr>
          </a:p>
          <a:p>
            <a:pPr algn="l"/>
            <a:endParaRPr lang="en-US" sz="1800" dirty="0"/>
          </a:p>
          <a:p>
            <a:pPr algn="l"/>
            <a:r>
              <a:rPr lang="en-US" sz="1800" dirty="0"/>
              <a:t>These challenges often strain conventional IT infrastructure, leading to inefficiencies and bottlenecks.</a:t>
            </a:r>
            <a:br>
              <a:rPr lang="en-US" sz="1000" dirty="0"/>
            </a:br>
            <a:endParaRPr lang="en-US" sz="1800" dirty="0">
              <a:ea typeface="Calibri"/>
              <a:cs typeface="Calibri"/>
            </a:endParaRPr>
          </a:p>
        </p:txBody>
      </p:sp>
    </p:spTree>
    <p:extLst>
      <p:ext uri="{BB962C8B-B14F-4D97-AF65-F5344CB8AC3E}">
        <p14:creationId xmlns:p14="http://schemas.microsoft.com/office/powerpoint/2010/main" val="2898983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3A25EA-C25B-7CEE-1EF5-2DB5C0B2609C}"/>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B5E2835-4E47-45B3-9CFE-732FF7B054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A large server room with many wires&#10;&#10;AI-generated content may be incorrect.">
            <a:extLst>
              <a:ext uri="{FF2B5EF4-FFF2-40B4-BE49-F238E27FC236}">
                <a16:creationId xmlns:a16="http://schemas.microsoft.com/office/drawing/2014/main" id="{4BD58AD6-5063-CCE1-816B-2BBD2AA6A3C6}"/>
              </a:ext>
            </a:extLst>
          </p:cNvPr>
          <p:cNvPicPr>
            <a:picLocks noChangeAspect="1"/>
          </p:cNvPicPr>
          <p:nvPr/>
        </p:nvPicPr>
        <p:blipFill>
          <a:blip r:embed="rId2">
            <a:extLst>
              <a:ext uri="{837473B0-CC2E-450A-ABE3-18F120FF3D39}">
                <a1611:picAttrSrcUrl xmlns:a1611="http://schemas.microsoft.com/office/drawing/2016/11/main" r:id="rId3"/>
              </a:ext>
            </a:extLst>
          </a:blip>
          <a:srcRect l="10199" r="10201" b="2"/>
          <a:stretch>
            <a:fillRect/>
          </a:stretch>
        </p:blipFill>
        <p:spPr>
          <a:xfrm>
            <a:off x="3242695" y="10"/>
            <a:ext cx="8949307"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p:spPr>
      </p:pic>
      <p:sp useBgFill="1">
        <p:nvSpPr>
          <p:cNvPr id="79" name="Freeform: Shape 78">
            <a:extLst>
              <a:ext uri="{FF2B5EF4-FFF2-40B4-BE49-F238E27FC236}">
                <a16:creationId xmlns:a16="http://schemas.microsoft.com/office/drawing/2014/main" id="{5B45AD5D-AA52-4F7B-9362-576A39AD9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D5D5D5"/>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0" name="Freeform: Shape 79">
            <a:extLst>
              <a:ext uri="{FF2B5EF4-FFF2-40B4-BE49-F238E27FC236}">
                <a16:creationId xmlns:a16="http://schemas.microsoft.com/office/drawing/2014/main" id="{AEDD7960-4866-4399-BEF6-DD1431AB4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1234B2-21E5-2B3B-F94B-DCDEE196ABD1}"/>
              </a:ext>
            </a:extLst>
          </p:cNvPr>
          <p:cNvSpPr>
            <a:spLocks noGrp="1"/>
          </p:cNvSpPr>
          <p:nvPr>
            <p:ph type="ctrTitle"/>
          </p:nvPr>
        </p:nvSpPr>
        <p:spPr>
          <a:xfrm>
            <a:off x="371094" y="1161288"/>
            <a:ext cx="3438144" cy="1125728"/>
          </a:xfrm>
        </p:spPr>
        <p:txBody>
          <a:bodyPr vert="horz" lIns="91440" tIns="45720" rIns="91440" bIns="45720" rtlCol="0" anchor="b">
            <a:normAutofit/>
          </a:bodyPr>
          <a:lstStyle/>
          <a:p>
            <a:pPr algn="l"/>
            <a:r>
              <a:rPr lang="en-US" sz="2400" b="1"/>
              <a:t>Impact of IT Challenges on Infrastructure &amp; Business</a:t>
            </a:r>
          </a:p>
        </p:txBody>
      </p:sp>
      <p:sp>
        <p:nvSpPr>
          <p:cNvPr id="81" name="Rectangle 8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2" name="Rectangle 81">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170ED4E0-54DE-3DB1-2115-264F713EDDAB}"/>
              </a:ext>
            </a:extLst>
          </p:cNvPr>
          <p:cNvSpPr>
            <a:spLocks noGrp="1"/>
          </p:cNvSpPr>
          <p:nvPr>
            <p:ph type="subTitle" idx="1"/>
          </p:nvPr>
        </p:nvSpPr>
        <p:spPr>
          <a:xfrm>
            <a:off x="371094" y="2718054"/>
            <a:ext cx="3438906" cy="3207258"/>
          </a:xfrm>
        </p:spPr>
        <p:txBody>
          <a:bodyPr vert="horz" lIns="91440" tIns="45720" rIns="91440" bIns="45720" rtlCol="0" anchor="t">
            <a:noAutofit/>
          </a:bodyPr>
          <a:lstStyle/>
          <a:p>
            <a:pPr indent="-228600" algn="l">
              <a:buFont typeface="Arial" panose="020B0604020202020204" pitchFamily="34" charset="0"/>
              <a:buChar char="•"/>
            </a:pPr>
            <a:r>
              <a:rPr lang="en-US" sz="1400" dirty="0"/>
              <a:t>These modern IT issues have significant consequences:</a:t>
            </a:r>
            <a:endParaRPr lang="en-US" sz="1400" dirty="0">
              <a:ea typeface="Calibri"/>
              <a:cs typeface="Calibri"/>
            </a:endParaRPr>
          </a:p>
          <a:p>
            <a:pPr indent="-228600" algn="l">
              <a:buFont typeface="Arial" panose="020B0604020202020204" pitchFamily="34" charset="0"/>
              <a:buChar char="•"/>
            </a:pPr>
            <a:endParaRPr lang="en-US" sz="1400" dirty="0">
              <a:ea typeface="Calibri"/>
              <a:cs typeface="Calibri"/>
            </a:endParaRPr>
          </a:p>
          <a:p>
            <a:pPr marL="285750" indent="-228600" algn="l">
              <a:buFont typeface="Arial" panose="020B0604020202020204" pitchFamily="34" charset="0"/>
              <a:buChar char="•"/>
            </a:pPr>
            <a:r>
              <a:rPr lang="en-US" sz="1400" dirty="0"/>
              <a:t>Outdated hardware and limited scalability slow down innovation.</a:t>
            </a:r>
            <a:endParaRPr lang="en-US" sz="1400" dirty="0">
              <a:ea typeface="Calibri"/>
              <a:cs typeface="Calibri"/>
            </a:endParaRPr>
          </a:p>
          <a:p>
            <a:pPr marL="285750" indent="-228600" algn="l">
              <a:buFont typeface="Arial" panose="020B0604020202020204" pitchFamily="34" charset="0"/>
              <a:buChar char="•"/>
            </a:pPr>
            <a:r>
              <a:rPr lang="en-US" sz="1400" dirty="0"/>
              <a:t>High upfront costs for servers, storage, and networking restrict flexibility.</a:t>
            </a:r>
            <a:endParaRPr lang="en-US" sz="1400" dirty="0">
              <a:ea typeface="Calibri"/>
              <a:cs typeface="Calibri"/>
            </a:endParaRPr>
          </a:p>
          <a:p>
            <a:pPr marL="285750" indent="-228600" algn="l">
              <a:buFont typeface="Arial" panose="020B0604020202020204" pitchFamily="34" charset="0"/>
              <a:buChar char="•"/>
            </a:pPr>
            <a:r>
              <a:rPr lang="en-US" sz="1400" dirty="0"/>
              <a:t>IT teams must devote excessive time to maintenance, leaving less for strategic growth.</a:t>
            </a:r>
            <a:endParaRPr lang="en-US" sz="1400" dirty="0">
              <a:ea typeface="Calibri"/>
              <a:cs typeface="Calibri"/>
            </a:endParaRPr>
          </a:p>
          <a:p>
            <a:pPr marL="285750" indent="-228600" algn="l">
              <a:buFont typeface="Arial" panose="020B0604020202020204" pitchFamily="34" charset="0"/>
              <a:buChar char="•"/>
            </a:pPr>
            <a:r>
              <a:rPr lang="en-US" sz="1400" dirty="0"/>
              <a:t>Cyber threats and compliance requirements increase risk.</a:t>
            </a:r>
            <a:endParaRPr lang="en-US" sz="1400" dirty="0">
              <a:ea typeface="Calibri"/>
              <a:cs typeface="Calibri"/>
            </a:endParaRPr>
          </a:p>
          <a:p>
            <a:pPr marL="285750" indent="-228600" algn="l">
              <a:buFont typeface="Arial" panose="020B0604020202020204" pitchFamily="34" charset="0"/>
              <a:buChar char="•"/>
            </a:pPr>
            <a:r>
              <a:rPr lang="en-US" sz="1400" dirty="0"/>
              <a:t>Rapid changes in demand can overwhelm traditional infrastructure, resulting in downtime or higher expenses.</a:t>
            </a:r>
            <a:endParaRPr lang="en-US" sz="1400" dirty="0">
              <a:ea typeface="Calibri"/>
              <a:cs typeface="Calibri"/>
            </a:endParaRPr>
          </a:p>
        </p:txBody>
      </p:sp>
    </p:spTree>
    <p:extLst>
      <p:ext uri="{BB962C8B-B14F-4D97-AF65-F5344CB8AC3E}">
        <p14:creationId xmlns:p14="http://schemas.microsoft.com/office/powerpoint/2010/main" val="71870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37C986-A732-6520-D223-2238C12F0725}"/>
            </a:ext>
          </a:extLst>
        </p:cNvPr>
        <p:cNvGrpSpPr/>
        <p:nvPr/>
      </p:nvGrpSpPr>
      <p:grpSpPr>
        <a:xfrm>
          <a:off x="0" y="0"/>
          <a:ext cx="0" cy="0"/>
          <a:chOff x="0" y="0"/>
          <a:chExt cx="0" cy="0"/>
        </a:xfrm>
      </p:grpSpPr>
      <p:sp useBgFill="1">
        <p:nvSpPr>
          <p:cNvPr id="132" name="Rectangle 131">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A058A1-B6C5-AB0F-C3A0-1DDB753F77AC}"/>
              </a:ext>
            </a:extLst>
          </p:cNvPr>
          <p:cNvSpPr>
            <a:spLocks noGrp="1"/>
          </p:cNvSpPr>
          <p:nvPr>
            <p:ph type="ctrTitle"/>
          </p:nvPr>
        </p:nvSpPr>
        <p:spPr>
          <a:xfrm>
            <a:off x="411480" y="987552"/>
            <a:ext cx="4485861" cy="1088136"/>
          </a:xfrm>
        </p:spPr>
        <p:txBody>
          <a:bodyPr vert="horz" lIns="91440" tIns="45720" rIns="91440" bIns="45720" rtlCol="0" anchor="b">
            <a:normAutofit/>
          </a:bodyPr>
          <a:lstStyle/>
          <a:p>
            <a:pPr algn="l"/>
            <a:r>
              <a:rPr lang="en-US" sz="3400" b="1"/>
              <a:t>What Is Cloud Computing?</a:t>
            </a:r>
          </a:p>
        </p:txBody>
      </p:sp>
      <p:sp>
        <p:nvSpPr>
          <p:cNvPr id="133" name="Rectangle 132">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1" name="Rectangle 130">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77253924-0314-689C-9AF3-C3905D4B1437}"/>
              </a:ext>
            </a:extLst>
          </p:cNvPr>
          <p:cNvSpPr>
            <a:spLocks noGrp="1"/>
          </p:cNvSpPr>
          <p:nvPr>
            <p:ph type="subTitle" idx="1"/>
          </p:nvPr>
        </p:nvSpPr>
        <p:spPr>
          <a:xfrm>
            <a:off x="411479" y="2307336"/>
            <a:ext cx="4486148" cy="3965448"/>
          </a:xfrm>
        </p:spPr>
        <p:txBody>
          <a:bodyPr vert="horz" lIns="91440" tIns="45720" rIns="91440" bIns="45720" rtlCol="0" anchor="t">
            <a:noAutofit/>
          </a:bodyPr>
          <a:lstStyle/>
          <a:p>
            <a:pPr indent="-228600" algn="l">
              <a:buFont typeface="Arial" panose="020B0604020202020204" pitchFamily="34" charset="0"/>
              <a:buChar char="•"/>
            </a:pPr>
            <a:r>
              <a:rPr lang="en-US" sz="1400" dirty="0"/>
              <a:t>Cloud computing delivers computing resources—such as servers, storage, and software—over the internet, allowing businesses to rent services instead of building and maintaining their own IT infrastructure. This model is cost-effective, scalable, and flexible, helping organizations:​</a:t>
            </a:r>
            <a:endParaRPr lang="en-US" sz="1400" dirty="0">
              <a:ea typeface="Calibri"/>
              <a:cs typeface="Calibri"/>
            </a:endParaRPr>
          </a:p>
          <a:p>
            <a:pPr marL="285750" indent="-228600" algn="l">
              <a:buFont typeface="Arial" panose="020B0604020202020204" pitchFamily="34" charset="0"/>
              <a:buChar char="•"/>
            </a:pPr>
            <a:r>
              <a:rPr lang="en-US" sz="1400" dirty="0"/>
              <a:t>Scale resources instantly to match their needs</a:t>
            </a:r>
            <a:endParaRPr lang="en-US" sz="1400" dirty="0">
              <a:ea typeface="Calibri"/>
              <a:cs typeface="Calibri"/>
            </a:endParaRPr>
          </a:p>
          <a:p>
            <a:pPr marL="285750" indent="-228600" algn="l">
              <a:buFont typeface="Arial" panose="020B0604020202020204" pitchFamily="34" charset="0"/>
              <a:buChar char="•"/>
            </a:pPr>
            <a:r>
              <a:rPr lang="en-US" sz="1400" dirty="0"/>
              <a:t>Reduce upfront investments and ongoing maintenance</a:t>
            </a:r>
            <a:endParaRPr lang="en-US" sz="1400" dirty="0">
              <a:ea typeface="Calibri"/>
              <a:cs typeface="Calibri"/>
            </a:endParaRPr>
          </a:p>
          <a:p>
            <a:pPr marL="285750" indent="-228600" algn="l">
              <a:buFont typeface="Arial" panose="020B0604020202020204" pitchFamily="34" charset="0"/>
              <a:buChar char="•"/>
            </a:pPr>
            <a:r>
              <a:rPr lang="en-US" sz="1400" dirty="0"/>
              <a:t>Access services securely from anywhere, on any device</a:t>
            </a:r>
            <a:endParaRPr lang="en-US" sz="1400" dirty="0">
              <a:ea typeface="Calibri"/>
              <a:cs typeface="Calibri"/>
            </a:endParaRPr>
          </a:p>
          <a:p>
            <a:pPr indent="-228600" algn="l">
              <a:buFont typeface="Arial" panose="020B0604020202020204" pitchFamily="34" charset="0"/>
              <a:buChar char="•"/>
            </a:pPr>
            <a:endParaRPr lang="en-US" sz="1400" dirty="0">
              <a:ea typeface="Calibri"/>
              <a:cs typeface="Calibri"/>
            </a:endParaRPr>
          </a:p>
          <a:p>
            <a:pPr algn="l"/>
            <a:r>
              <a:rPr lang="en-US" sz="1400" dirty="0"/>
              <a:t>Cloud computing underpins faster innovation, remote collaboration, and efficiency for modern organizations. Cloud computing is a technology that provides access to IT resources like servers, storage, databases, and software over the internet instead of relying on local infrastructure. Organizations only pay for what they use and can easily scale services up or down to meet demand. This approach improves flexibility, efficiency, and collaboration while reducing costs and maintenance for businesses.​</a:t>
            </a:r>
            <a:endParaRPr lang="en-US" sz="1400" dirty="0">
              <a:ea typeface="Calibri"/>
              <a:cs typeface="Calibri"/>
            </a:endParaRPr>
          </a:p>
        </p:txBody>
      </p:sp>
      <p:pic>
        <p:nvPicPr>
          <p:cNvPr id="81" name="Picture 80" descr="Cloud Computing Interface | Stable Diffusion Online">
            <a:extLst>
              <a:ext uri="{FF2B5EF4-FFF2-40B4-BE49-F238E27FC236}">
                <a16:creationId xmlns:a16="http://schemas.microsoft.com/office/drawing/2014/main" id="{28F26816-C747-EB4F-F960-21E77C22FA20}"/>
              </a:ext>
            </a:extLst>
          </p:cNvPr>
          <p:cNvPicPr>
            <a:picLocks noChangeAspect="1"/>
          </p:cNvPicPr>
          <p:nvPr/>
        </p:nvPicPr>
        <p:blipFill>
          <a:blip r:embed="rId2"/>
          <a:srcRect r="1" b="378"/>
          <a:stretch>
            <a:fillRect/>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Tree>
    <p:extLst>
      <p:ext uri="{BB962C8B-B14F-4D97-AF65-F5344CB8AC3E}">
        <p14:creationId xmlns:p14="http://schemas.microsoft.com/office/powerpoint/2010/main" val="3555238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D7CD3E-E764-0198-92E0-5FD4EB74746D}"/>
            </a:ext>
          </a:extLst>
        </p:cNvPr>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mazon Cloud Services | Amazon Web Services - KCS">
            <a:extLst>
              <a:ext uri="{FF2B5EF4-FFF2-40B4-BE49-F238E27FC236}">
                <a16:creationId xmlns:a16="http://schemas.microsoft.com/office/drawing/2014/main" id="{57EC754A-76A8-FD22-F066-D7D98607DC82}"/>
              </a:ext>
            </a:extLst>
          </p:cNvPr>
          <p:cNvPicPr>
            <a:picLocks noChangeAspect="1"/>
          </p:cNvPicPr>
          <p:nvPr/>
        </p:nvPicPr>
        <p:blipFill>
          <a:blip r:embed="rId2"/>
          <a:srcRect t="279" r="346" b="-2066"/>
          <a:stretch>
            <a:fillRect/>
          </a:stretch>
        </p:blipFill>
        <p:spPr>
          <a:xfrm>
            <a:off x="8053554" y="81618"/>
            <a:ext cx="4142443" cy="3552418"/>
          </a:xfrm>
          <a:prstGeom prst="rect">
            <a:avLst/>
          </a:prstGeom>
        </p:spPr>
      </p:pic>
      <p:sp>
        <p:nvSpPr>
          <p:cNvPr id="92" name="Rectangle 91">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89032A-2AB6-CEDB-1DC0-2257235AE207}"/>
              </a:ext>
            </a:extLst>
          </p:cNvPr>
          <p:cNvSpPr>
            <a:spLocks noGrp="1"/>
          </p:cNvSpPr>
          <p:nvPr>
            <p:ph type="ctrTitle"/>
          </p:nvPr>
        </p:nvSpPr>
        <p:spPr>
          <a:xfrm>
            <a:off x="423284" y="910768"/>
            <a:ext cx="4575927" cy="665423"/>
          </a:xfrm>
        </p:spPr>
        <p:txBody>
          <a:bodyPr vert="horz" lIns="91440" tIns="45720" rIns="91440" bIns="45720" rtlCol="0" anchor="b">
            <a:normAutofit/>
          </a:bodyPr>
          <a:lstStyle/>
          <a:p>
            <a:pPr algn="l"/>
            <a:r>
              <a:rPr lang="en-US" sz="2800" b="1" dirty="0"/>
              <a:t>AWS and Its Cloud Services</a:t>
            </a:r>
            <a:endParaRPr lang="en-US" dirty="0"/>
          </a:p>
        </p:txBody>
      </p:sp>
      <p:sp>
        <p:nvSpPr>
          <p:cNvPr id="93" name="Rectangle 9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35A88DD0-20DB-F0AB-6A7C-5331639C2BA0}"/>
              </a:ext>
            </a:extLst>
          </p:cNvPr>
          <p:cNvSpPr>
            <a:spLocks noGrp="1"/>
          </p:cNvSpPr>
          <p:nvPr>
            <p:ph type="subTitle" idx="1"/>
          </p:nvPr>
        </p:nvSpPr>
        <p:spPr>
          <a:xfrm>
            <a:off x="423285" y="1851670"/>
            <a:ext cx="8741591" cy="4073642"/>
          </a:xfrm>
        </p:spPr>
        <p:txBody>
          <a:bodyPr vert="horz" lIns="91440" tIns="45720" rIns="91440" bIns="45720" rtlCol="0" anchor="t">
            <a:noAutofit/>
          </a:bodyPr>
          <a:lstStyle/>
          <a:p>
            <a:pPr algn="l"/>
            <a:r>
              <a:rPr lang="en-US" sz="1400" dirty="0"/>
              <a:t>Amazon Web Services (AWS) is the world’s largest and most popular cloud platform, powering</a:t>
            </a:r>
          </a:p>
          <a:p>
            <a:pPr algn="l"/>
            <a:r>
              <a:rPr lang="en-US" sz="1400" dirty="0"/>
              <a:t>Businesses of all sizes with secure, scalable, and flexible IT solutions.</a:t>
            </a:r>
            <a:endParaRPr lang="en-US" sz="1400">
              <a:ea typeface="Calibri"/>
              <a:cs typeface="Calibri"/>
            </a:endParaRPr>
          </a:p>
          <a:p>
            <a:pPr marL="285750" indent="-228600" algn="l">
              <a:buFont typeface="Arial" panose="020B0604020202020204" pitchFamily="34" charset="0"/>
              <a:buChar char="•"/>
            </a:pPr>
            <a:r>
              <a:rPr lang="en-US" sz="1400" dirty="0"/>
              <a:t>Compute: AWS EC2 provides virtual servers (instances) for a wide range of workloads, while Lambda enables serverless computing, letting you run code without managing servers.</a:t>
            </a:r>
            <a:endParaRPr lang="en-US" sz="1400" dirty="0">
              <a:ea typeface="Calibri" panose="020F0502020204030204"/>
              <a:cs typeface="Calibri" panose="020F0502020204030204"/>
            </a:endParaRPr>
          </a:p>
          <a:p>
            <a:pPr marL="285750" indent="-228600" algn="l">
              <a:buFont typeface="Arial" panose="020B0604020202020204" pitchFamily="34" charset="0"/>
              <a:buChar char="•"/>
            </a:pPr>
            <a:r>
              <a:rPr lang="en-US" sz="1400" dirty="0"/>
              <a:t>Storage: Amazon S3 offers scalable object storage for files and data; EBS provides block storage for use with</a:t>
            </a:r>
            <a:endParaRPr lang="en-US" sz="1400" dirty="0">
              <a:ea typeface="Calibri"/>
              <a:cs typeface="Calibri"/>
            </a:endParaRPr>
          </a:p>
          <a:p>
            <a:pPr marL="57150" algn="l"/>
            <a:r>
              <a:rPr lang="en-US" sz="1400" dirty="0"/>
              <a:t>      EC2 instances. AWS ensures data protection through automated backups and disaster recovery.</a:t>
            </a:r>
            <a:endParaRPr lang="en-US" sz="1400" dirty="0">
              <a:ea typeface="Calibri" panose="020F0502020204030204"/>
              <a:cs typeface="Calibri" panose="020F0502020204030204"/>
            </a:endParaRPr>
          </a:p>
          <a:p>
            <a:pPr marL="285750" indent="-228600" algn="l">
              <a:buFont typeface="Arial" panose="020B0604020202020204" pitchFamily="34" charset="0"/>
              <a:buChar char="•"/>
            </a:pPr>
            <a:r>
              <a:rPr lang="en-US" sz="1400" dirty="0"/>
              <a:t>Databases: AWS supports both relational (RDS) and NoSQL (DynamoDB) databases, delivering high availability and automated scaling.</a:t>
            </a:r>
            <a:endParaRPr lang="en-US" sz="1400" dirty="0">
              <a:ea typeface="Calibri" panose="020F0502020204030204"/>
              <a:cs typeface="Calibri" panose="020F0502020204030204"/>
            </a:endParaRPr>
          </a:p>
          <a:p>
            <a:pPr marL="285750" indent="-228600" algn="l">
              <a:buFont typeface="Arial" panose="020B0604020202020204" pitchFamily="34" charset="0"/>
              <a:buChar char="•"/>
            </a:pPr>
            <a:r>
              <a:rPr lang="en-US" sz="1400" dirty="0"/>
              <a:t>Networking: Virtual Private Cloud (VPC) allows you to isolate and control your cloud resources; CloudFront accelerates content delivery globally via edge locations.</a:t>
            </a:r>
            <a:endParaRPr lang="en-US" sz="1400" dirty="0">
              <a:ea typeface="Calibri" panose="020F0502020204030204"/>
              <a:cs typeface="Calibri" panose="020F0502020204030204"/>
            </a:endParaRPr>
          </a:p>
          <a:p>
            <a:pPr marL="285750" indent="-228600" algn="l">
              <a:buFont typeface="Arial" panose="020B0604020202020204" pitchFamily="34" charset="0"/>
              <a:buChar char="•"/>
            </a:pPr>
            <a:r>
              <a:rPr lang="en-US" sz="1400" dirty="0"/>
              <a:t>Security &amp; Identity: Identity and Access Management (IAM) lets organizations manage and restrict access; Key Management Service (KMS) safeguards encryption keys and confidential data.</a:t>
            </a:r>
            <a:endParaRPr lang="en-US" sz="1400" dirty="0">
              <a:ea typeface="Calibri" panose="020F0502020204030204"/>
              <a:cs typeface="Calibri" panose="020F0502020204030204"/>
            </a:endParaRPr>
          </a:p>
          <a:p>
            <a:pPr marL="285750" indent="-228600" algn="l">
              <a:buFont typeface="Arial" panose="020B0604020202020204" pitchFamily="34" charset="0"/>
              <a:buChar char="•"/>
            </a:pPr>
            <a:r>
              <a:rPr lang="en-US" sz="1400" dirty="0"/>
              <a:t>Machine Learning &amp; AI: SageMaker powers machine learning model development, while services like </a:t>
            </a:r>
            <a:r>
              <a:rPr lang="en-US" sz="1400" dirty="0" err="1"/>
              <a:t>Rekognition</a:t>
            </a:r>
            <a:r>
              <a:rPr lang="en-US" sz="1400" dirty="0"/>
              <a:t> (image/video analysis) and Comprehend (text analysis) enable easy adoption of AI.</a:t>
            </a:r>
            <a:endParaRPr lang="en-US" sz="1400" dirty="0">
              <a:ea typeface="Calibri"/>
              <a:cs typeface="Calibri"/>
            </a:endParaRPr>
          </a:p>
          <a:p>
            <a:pPr marL="285750" indent="-228600" algn="l">
              <a:buFont typeface="Arial" panose="020B0604020202020204" pitchFamily="34" charset="0"/>
              <a:buChar char="•"/>
            </a:pPr>
            <a:endParaRPr lang="en-US" sz="1400" dirty="0">
              <a:ea typeface="Calibri"/>
              <a:cs typeface="Calibri"/>
            </a:endParaRPr>
          </a:p>
          <a:p>
            <a:pPr algn="l"/>
            <a:r>
              <a:rPr lang="en-US" sz="1400" dirty="0"/>
              <a:t>AWS has a global network of data centers, providing high reliability, strong security, and pay-as-you-go pricing, making it a top choice for cloud adoption and innovation.</a:t>
            </a:r>
            <a:endParaRPr lang="en-US" sz="1400" dirty="0">
              <a:ea typeface="Calibri"/>
              <a:cs typeface="Calibri"/>
            </a:endParaRPr>
          </a:p>
        </p:txBody>
      </p:sp>
    </p:spTree>
    <p:extLst>
      <p:ext uri="{BB962C8B-B14F-4D97-AF65-F5344CB8AC3E}">
        <p14:creationId xmlns:p14="http://schemas.microsoft.com/office/powerpoint/2010/main" val="2918354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22502C-0984-020F-624B-F146597EFC8E}"/>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255513-1847-9748-7590-1225A01D7F8B}"/>
              </a:ext>
            </a:extLst>
          </p:cNvPr>
          <p:cNvSpPr>
            <a:spLocks noGrp="1"/>
          </p:cNvSpPr>
          <p:nvPr>
            <p:ph type="ctrTitle"/>
          </p:nvPr>
        </p:nvSpPr>
        <p:spPr>
          <a:xfrm>
            <a:off x="1171074" y="1396686"/>
            <a:ext cx="3240506" cy="4064628"/>
          </a:xfrm>
        </p:spPr>
        <p:txBody>
          <a:bodyPr vert="horz" lIns="91440" tIns="45720" rIns="91440" bIns="45720" rtlCol="0" anchor="ctr">
            <a:normAutofit/>
          </a:bodyPr>
          <a:lstStyle/>
          <a:p>
            <a:pPr algn="l"/>
            <a:r>
              <a:rPr lang="en-US" sz="4400" b="1" kern="1200">
                <a:solidFill>
                  <a:srgbClr val="FFFFFF"/>
                </a:solidFill>
                <a:latin typeface="+mj-lt"/>
                <a:ea typeface="+mj-ea"/>
                <a:cs typeface="+mj-cs"/>
              </a:rPr>
              <a:t>How Cloud Computing Helps Solve IT Challenges</a:t>
            </a:r>
          </a:p>
        </p:txBody>
      </p:sp>
      <p:sp>
        <p:nvSpPr>
          <p:cNvPr id="34" name="Arc 33">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E292583D-F774-EDC9-FEC5-B0BEE35C08C1}"/>
              </a:ext>
            </a:extLst>
          </p:cNvPr>
          <p:cNvSpPr>
            <a:spLocks noGrp="1"/>
          </p:cNvSpPr>
          <p:nvPr>
            <p:ph type="subTitle" idx="1"/>
          </p:nvPr>
        </p:nvSpPr>
        <p:spPr>
          <a:xfrm>
            <a:off x="5370153" y="1526033"/>
            <a:ext cx="5536397" cy="3935281"/>
          </a:xfrm>
        </p:spPr>
        <p:txBody>
          <a:bodyPr vert="horz" lIns="91440" tIns="45720" rIns="91440" bIns="45720" rtlCol="0" anchor="t">
            <a:noAutofit/>
          </a:bodyPr>
          <a:lstStyle/>
          <a:p>
            <a:pPr algn="l"/>
            <a:r>
              <a:rPr lang="en-US" sz="1600" dirty="0"/>
              <a:t>Cloud computing directly addresses key IT problems:</a:t>
            </a:r>
            <a:endParaRPr lang="en-US" sz="1600" dirty="0">
              <a:ea typeface="Calibri"/>
              <a:cs typeface="Calibri"/>
            </a:endParaRPr>
          </a:p>
          <a:p>
            <a:pPr indent="-228600" algn="l">
              <a:buFont typeface="Arial" panose="020B0604020202020204" pitchFamily="34" charset="0"/>
              <a:buChar char="•"/>
            </a:pPr>
            <a:endParaRPr lang="en-US" sz="1600" dirty="0">
              <a:ea typeface="Calibri"/>
              <a:cs typeface="Calibri"/>
            </a:endParaRPr>
          </a:p>
          <a:p>
            <a:pPr marL="285750" indent="-228600" algn="l">
              <a:buFont typeface="Arial" panose="020B0604020202020204" pitchFamily="34" charset="0"/>
              <a:buChar char="•"/>
            </a:pPr>
            <a:r>
              <a:rPr lang="en-US" sz="1600" dirty="0"/>
              <a:t>Scalability: Instantly add or remove resources as needs change</a:t>
            </a:r>
            <a:endParaRPr lang="en-US" sz="1600" dirty="0">
              <a:ea typeface="Calibri"/>
              <a:cs typeface="Calibri"/>
            </a:endParaRPr>
          </a:p>
          <a:p>
            <a:pPr marL="285750" indent="-228600" algn="l">
              <a:buFont typeface="Arial" panose="020B0604020202020204" pitchFamily="34" charset="0"/>
              <a:buChar char="•"/>
            </a:pPr>
            <a:r>
              <a:rPr lang="en-US" sz="1600" dirty="0"/>
              <a:t>Cost Efficiency: Pay only for what you use; no hardware investments</a:t>
            </a:r>
            <a:endParaRPr lang="en-US" sz="1600" dirty="0">
              <a:ea typeface="Calibri"/>
              <a:cs typeface="Calibri"/>
            </a:endParaRPr>
          </a:p>
          <a:p>
            <a:pPr marL="285750" indent="-228600" algn="l">
              <a:buFont typeface="Arial" panose="020B0604020202020204" pitchFamily="34" charset="0"/>
              <a:buChar char="•"/>
            </a:pPr>
            <a:r>
              <a:rPr lang="en-US" sz="1600" dirty="0"/>
              <a:t>Remote Access &amp; Flexibility: Collaborate from anywhere with secure access</a:t>
            </a:r>
            <a:endParaRPr lang="en-US" sz="1600" dirty="0">
              <a:ea typeface="Calibri"/>
              <a:cs typeface="Calibri"/>
            </a:endParaRPr>
          </a:p>
          <a:p>
            <a:pPr marL="285750" indent="-228600" algn="l">
              <a:buFont typeface="Arial" panose="020B0604020202020204" pitchFamily="34" charset="0"/>
              <a:buChar char="•"/>
            </a:pPr>
            <a:r>
              <a:rPr lang="en-US" sz="1600" dirty="0"/>
              <a:t>Disaster Recovery &amp; Backup: Faster recovery from outages or data loss</a:t>
            </a:r>
            <a:endParaRPr lang="en-US" sz="1600" dirty="0">
              <a:ea typeface="Calibri"/>
              <a:cs typeface="Calibri"/>
            </a:endParaRPr>
          </a:p>
          <a:p>
            <a:pPr marL="285750" indent="-228600" algn="l">
              <a:buFont typeface="Arial" panose="020B0604020202020204" pitchFamily="34" charset="0"/>
              <a:buChar char="•"/>
            </a:pPr>
            <a:r>
              <a:rPr lang="en-US" sz="1600" dirty="0"/>
              <a:t>Security: Advanced security, compliance, monitoring, and threat detection</a:t>
            </a:r>
            <a:endParaRPr lang="en-US" sz="1600" dirty="0">
              <a:ea typeface="Calibri"/>
              <a:cs typeface="Calibri"/>
            </a:endParaRPr>
          </a:p>
          <a:p>
            <a:pPr marL="285750" indent="-228600" algn="l">
              <a:buFont typeface="Arial" panose="020B0604020202020204" pitchFamily="34" charset="0"/>
              <a:buChar char="•"/>
            </a:pPr>
            <a:endParaRPr lang="en-US" sz="1600" dirty="0">
              <a:ea typeface="Calibri"/>
              <a:cs typeface="Calibri"/>
            </a:endParaRPr>
          </a:p>
          <a:p>
            <a:pPr algn="l"/>
            <a:r>
              <a:rPr lang="en-US" sz="1600" dirty="0"/>
              <a:t>By leveraging these features, companies become more agile and resilient.</a:t>
            </a:r>
            <a:endParaRPr lang="en-US" sz="1600" dirty="0">
              <a:ea typeface="Calibri"/>
              <a:cs typeface="Calibri"/>
            </a:endParaRPr>
          </a:p>
        </p:txBody>
      </p:sp>
    </p:spTree>
    <p:extLst>
      <p:ext uri="{BB962C8B-B14F-4D97-AF65-F5344CB8AC3E}">
        <p14:creationId xmlns:p14="http://schemas.microsoft.com/office/powerpoint/2010/main" val="2809113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394AF5-8438-A9A0-CC91-3F8ACB3BAD02}"/>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50E4C519-FBE9-4ABE-A8F9-C2CBE3269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ustainable Cloud Computing for ECommerce Solutions for Green ...">
            <a:extLst>
              <a:ext uri="{FF2B5EF4-FFF2-40B4-BE49-F238E27FC236}">
                <a16:creationId xmlns:a16="http://schemas.microsoft.com/office/drawing/2014/main" id="{DF6BDE43-8DC8-49F7-A0AE-0381CE4BF05C}"/>
              </a:ext>
            </a:extLst>
          </p:cNvPr>
          <p:cNvPicPr>
            <a:picLocks noChangeAspect="1"/>
          </p:cNvPicPr>
          <p:nvPr/>
        </p:nvPicPr>
        <p:blipFill>
          <a:blip r:embed="rId2"/>
          <a:srcRect t="11672" b="11672"/>
          <a:stretch>
            <a:fillRect/>
          </a:stretch>
        </p:blipFill>
        <p:spPr>
          <a:xfrm>
            <a:off x="3245637" y="-1"/>
            <a:ext cx="8946363" cy="6858000"/>
          </a:xfrm>
          <a:custGeom>
            <a:avLst/>
            <a:gdLst/>
            <a:ahLst/>
            <a:cxnLst/>
            <a:rect l="l" t="t" r="r" b="b"/>
            <a:pathLst>
              <a:path w="8946363" h="6858000">
                <a:moveTo>
                  <a:pt x="0" y="0"/>
                </a:moveTo>
                <a:lnTo>
                  <a:pt x="8946363" y="0"/>
                </a:lnTo>
                <a:lnTo>
                  <a:pt x="8946363" y="6858000"/>
                </a:lnTo>
                <a:lnTo>
                  <a:pt x="1" y="6858000"/>
                </a:lnTo>
                <a:lnTo>
                  <a:pt x="60040" y="6788731"/>
                </a:lnTo>
                <a:cubicBezTo>
                  <a:pt x="770566" y="5928901"/>
                  <a:pt x="1210035" y="4741057"/>
                  <a:pt x="1210035" y="3429001"/>
                </a:cubicBezTo>
                <a:cubicBezTo>
                  <a:pt x="1210035" y="2116945"/>
                  <a:pt x="770566" y="929101"/>
                  <a:pt x="60040" y="69272"/>
                </a:cubicBezTo>
                <a:close/>
              </a:path>
            </a:pathLst>
          </a:custGeom>
        </p:spPr>
      </p:pic>
      <p:sp useBgFill="1">
        <p:nvSpPr>
          <p:cNvPr id="52" name="Freeform: Shape 51">
            <a:extLst>
              <a:ext uri="{FF2B5EF4-FFF2-40B4-BE49-F238E27FC236}">
                <a16:creationId xmlns:a16="http://schemas.microsoft.com/office/drawing/2014/main" id="{80EC29FB-299E-49F3-8C7B-01199632A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455672" cy="6858000"/>
          </a:xfrm>
          <a:custGeom>
            <a:avLst/>
            <a:gdLst>
              <a:gd name="connsiteX0" fmla="*/ 0 w 4455672"/>
              <a:gd name="connsiteY0" fmla="*/ 0 h 6858000"/>
              <a:gd name="connsiteX1" fmla="*/ 3245636 w 4455672"/>
              <a:gd name="connsiteY1" fmla="*/ 0 h 6858000"/>
              <a:gd name="connsiteX2" fmla="*/ 3305677 w 4455672"/>
              <a:gd name="connsiteY2" fmla="*/ 69272 h 6858000"/>
              <a:gd name="connsiteX3" fmla="*/ 4455672 w 4455672"/>
              <a:gd name="connsiteY3" fmla="*/ 3429001 h 6858000"/>
              <a:gd name="connsiteX4" fmla="*/ 3305677 w 4455672"/>
              <a:gd name="connsiteY4" fmla="*/ 6788731 h 6858000"/>
              <a:gd name="connsiteX5" fmla="*/ 3245638 w 4455672"/>
              <a:gd name="connsiteY5" fmla="*/ 6858000 h 6858000"/>
              <a:gd name="connsiteX6" fmla="*/ 0 w 445567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2" h="6858000">
                <a:moveTo>
                  <a:pt x="0" y="0"/>
                </a:moveTo>
                <a:lnTo>
                  <a:pt x="3245636" y="0"/>
                </a:lnTo>
                <a:lnTo>
                  <a:pt x="3305677" y="69272"/>
                </a:lnTo>
                <a:cubicBezTo>
                  <a:pt x="4016203" y="929101"/>
                  <a:pt x="4455672" y="2116945"/>
                  <a:pt x="4455672" y="3429001"/>
                </a:cubicBezTo>
                <a:cubicBezTo>
                  <a:pt x="4455672" y="4741057"/>
                  <a:pt x="4016203" y="5928901"/>
                  <a:pt x="3305677" y="6788731"/>
                </a:cubicBezTo>
                <a:lnTo>
                  <a:pt x="3245638"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 name="Freeform: Shape 52">
            <a:extLst>
              <a:ext uri="{FF2B5EF4-FFF2-40B4-BE49-F238E27FC236}">
                <a16:creationId xmlns:a16="http://schemas.microsoft.com/office/drawing/2014/main" id="{C29A2522-B27A-45C5-897B-79A1407D1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8" cy="6858000"/>
          </a:xfrm>
          <a:custGeom>
            <a:avLst/>
            <a:gdLst>
              <a:gd name="connsiteX0" fmla="*/ 0 w 4446528"/>
              <a:gd name="connsiteY0" fmla="*/ 0 h 6858000"/>
              <a:gd name="connsiteX1" fmla="*/ 3236492 w 4446528"/>
              <a:gd name="connsiteY1" fmla="*/ 0 h 6858000"/>
              <a:gd name="connsiteX2" fmla="*/ 3296533 w 4446528"/>
              <a:gd name="connsiteY2" fmla="*/ 69272 h 6858000"/>
              <a:gd name="connsiteX3" fmla="*/ 4446528 w 4446528"/>
              <a:gd name="connsiteY3" fmla="*/ 3429001 h 6858000"/>
              <a:gd name="connsiteX4" fmla="*/ 3296533 w 4446528"/>
              <a:gd name="connsiteY4" fmla="*/ 6788731 h 6858000"/>
              <a:gd name="connsiteX5" fmla="*/ 3236494 w 4446528"/>
              <a:gd name="connsiteY5" fmla="*/ 6858000 h 6858000"/>
              <a:gd name="connsiteX6" fmla="*/ 0 w 444652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8" h="6858000">
                <a:moveTo>
                  <a:pt x="0" y="0"/>
                </a:moveTo>
                <a:lnTo>
                  <a:pt x="3236492" y="0"/>
                </a:lnTo>
                <a:lnTo>
                  <a:pt x="3296533" y="69272"/>
                </a:lnTo>
                <a:cubicBezTo>
                  <a:pt x="4007059" y="929101"/>
                  <a:pt x="4446528" y="2116945"/>
                  <a:pt x="4446528" y="3429001"/>
                </a:cubicBezTo>
                <a:cubicBezTo>
                  <a:pt x="4446528" y="4741057"/>
                  <a:pt x="4007059" y="5928901"/>
                  <a:pt x="3296533" y="6788731"/>
                </a:cubicBezTo>
                <a:lnTo>
                  <a:pt x="323649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6538D7-7B5F-25B8-2125-705C20A6B69B}"/>
              </a:ext>
            </a:extLst>
          </p:cNvPr>
          <p:cNvSpPr>
            <a:spLocks noGrp="1"/>
          </p:cNvSpPr>
          <p:nvPr>
            <p:ph type="ctrTitle"/>
          </p:nvPr>
        </p:nvSpPr>
        <p:spPr>
          <a:xfrm>
            <a:off x="371094" y="1161288"/>
            <a:ext cx="3438144" cy="1239012"/>
          </a:xfrm>
        </p:spPr>
        <p:txBody>
          <a:bodyPr vert="horz" lIns="91440" tIns="45720" rIns="91440" bIns="45720" rtlCol="0" anchor="ctr">
            <a:normAutofit/>
          </a:bodyPr>
          <a:lstStyle/>
          <a:p>
            <a:pPr algn="l"/>
            <a:r>
              <a:rPr lang="en-US" sz="2800" b="1"/>
              <a:t>Examples of Cloud Solutions in Practice</a:t>
            </a:r>
          </a:p>
        </p:txBody>
      </p:sp>
      <p:sp>
        <p:nvSpPr>
          <p:cNvPr id="54" name="Rectangle 53">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0961"/>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5" name="Rectangle 5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4181"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334927EC-D184-268C-7D74-3F3CF2FF2FD6}"/>
              </a:ext>
            </a:extLst>
          </p:cNvPr>
          <p:cNvSpPr>
            <a:spLocks noGrp="1"/>
          </p:cNvSpPr>
          <p:nvPr>
            <p:ph type="subTitle" idx="1"/>
          </p:nvPr>
        </p:nvSpPr>
        <p:spPr>
          <a:xfrm>
            <a:off x="403751" y="2598312"/>
            <a:ext cx="3395364" cy="3327000"/>
          </a:xfrm>
        </p:spPr>
        <p:txBody>
          <a:bodyPr vert="horz" lIns="91440" tIns="45720" rIns="91440" bIns="45720" rtlCol="0" anchor="t">
            <a:noAutofit/>
          </a:bodyPr>
          <a:lstStyle/>
          <a:p>
            <a:pPr marL="285750" indent="-228600" algn="l">
              <a:buFont typeface="Arial" panose="020B0604020202020204" pitchFamily="34" charset="0"/>
              <a:buChar char="•"/>
            </a:pPr>
            <a:r>
              <a:rPr lang="en-US" sz="1400" dirty="0"/>
              <a:t>E-commerce: Online retailers use the cloud to handle fluctuating website traffic during sales events.</a:t>
            </a:r>
            <a:endParaRPr lang="en-US" sz="1400" dirty="0">
              <a:ea typeface="Calibri"/>
              <a:cs typeface="Calibri"/>
            </a:endParaRPr>
          </a:p>
          <a:p>
            <a:pPr marL="285750" indent="-228600" algn="l">
              <a:buFont typeface="Arial" panose="020B0604020202020204" pitchFamily="34" charset="0"/>
              <a:buChar char="•"/>
            </a:pPr>
            <a:r>
              <a:rPr lang="en-US" sz="1400" dirty="0"/>
              <a:t>Startups: Launch products quickly without buying servers or hiring specialized IT staff.</a:t>
            </a:r>
            <a:endParaRPr lang="en-US" sz="1400" dirty="0">
              <a:ea typeface="Calibri"/>
              <a:cs typeface="Calibri"/>
            </a:endParaRPr>
          </a:p>
          <a:p>
            <a:pPr marL="285750" indent="-228600" algn="l">
              <a:buFont typeface="Arial" panose="020B0604020202020204" pitchFamily="34" charset="0"/>
              <a:buChar char="•"/>
            </a:pPr>
            <a:r>
              <a:rPr lang="en-US" sz="1400" dirty="0"/>
              <a:t>Remote Work: Teams collaborate on shared documents and projects from anywhere.</a:t>
            </a:r>
            <a:endParaRPr lang="en-US" sz="1400" dirty="0">
              <a:ea typeface="Calibri"/>
              <a:cs typeface="Calibri"/>
            </a:endParaRPr>
          </a:p>
          <a:p>
            <a:pPr marL="285750" indent="-228600" algn="l">
              <a:buFont typeface="Arial" panose="020B0604020202020204" pitchFamily="34" charset="0"/>
              <a:buChar char="•"/>
            </a:pPr>
            <a:r>
              <a:rPr lang="en-US" sz="1400" dirty="0"/>
              <a:t>Healthcare: Hospitals store and analyze patient data securely with cloud-based tools.</a:t>
            </a:r>
            <a:endParaRPr lang="en-US" sz="1400" dirty="0">
              <a:ea typeface="Calibri"/>
              <a:cs typeface="Calibri"/>
            </a:endParaRPr>
          </a:p>
          <a:p>
            <a:pPr marL="285750" indent="-228600" algn="l">
              <a:buFont typeface="Arial" panose="020B0604020202020204" pitchFamily="34" charset="0"/>
              <a:buChar char="•"/>
            </a:pPr>
            <a:r>
              <a:rPr lang="en-US" sz="1400" dirty="0"/>
              <a:t>Finance: Banks process millions of transactions daily with scalable, secure infrastructure.</a:t>
            </a:r>
            <a:endParaRPr lang="en-US" sz="1400" dirty="0">
              <a:ea typeface="Calibri"/>
              <a:cs typeface="Calibri"/>
            </a:endParaRPr>
          </a:p>
          <a:p>
            <a:pPr algn="l"/>
            <a:r>
              <a:rPr lang="en-US" sz="1400" dirty="0"/>
              <a:t>These real-world cases show how cloud computing is transforming industries.</a:t>
            </a:r>
            <a:endParaRPr lang="en-US" sz="1400" dirty="0">
              <a:ea typeface="Calibri"/>
              <a:cs typeface="Calibri"/>
            </a:endParaRPr>
          </a:p>
        </p:txBody>
      </p:sp>
    </p:spTree>
    <p:extLst>
      <p:ext uri="{BB962C8B-B14F-4D97-AF65-F5344CB8AC3E}">
        <p14:creationId xmlns:p14="http://schemas.microsoft.com/office/powerpoint/2010/main" val="1991686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9233EA-ECE2-73DD-79EE-A6DE9F5FC165}"/>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30FC5B-EE6E-AA67-FA61-86AB524F4B61}"/>
              </a:ext>
            </a:extLst>
          </p:cNvPr>
          <p:cNvSpPr>
            <a:spLocks noGrp="1"/>
          </p:cNvSpPr>
          <p:nvPr>
            <p:ph type="ctrTitle"/>
          </p:nvPr>
        </p:nvSpPr>
        <p:spPr>
          <a:xfrm>
            <a:off x="1115568" y="548640"/>
            <a:ext cx="10168128" cy="1179576"/>
          </a:xfrm>
        </p:spPr>
        <p:txBody>
          <a:bodyPr vert="horz" lIns="91440" tIns="45720" rIns="91440" bIns="45720" rtlCol="0" anchor="ctr">
            <a:normAutofit/>
          </a:bodyPr>
          <a:lstStyle/>
          <a:p>
            <a:pPr algn="l"/>
            <a:r>
              <a:rPr lang="en-US" sz="4000" b="1" kern="1200">
                <a:solidFill>
                  <a:schemeClr val="tx1"/>
                </a:solidFill>
                <a:latin typeface="+mj-lt"/>
                <a:ea typeface="+mj-ea"/>
                <a:cs typeface="+mj-cs"/>
              </a:rPr>
              <a:t>Key Benefits &amp; Takeaways</a:t>
            </a:r>
          </a:p>
        </p:txBody>
      </p:sp>
      <p:sp>
        <p:nvSpPr>
          <p:cNvPr id="19" name="Rectangle 1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A3C16CF6-E111-A7C2-8090-BD68A4DBCEF0}"/>
              </a:ext>
            </a:extLst>
          </p:cNvPr>
          <p:cNvSpPr>
            <a:spLocks noGrp="1"/>
          </p:cNvSpPr>
          <p:nvPr>
            <p:ph type="subTitle" idx="1"/>
          </p:nvPr>
        </p:nvSpPr>
        <p:spPr>
          <a:xfrm>
            <a:off x="1115568" y="2481943"/>
            <a:ext cx="10168128" cy="3695020"/>
          </a:xfrm>
        </p:spPr>
        <p:txBody>
          <a:bodyPr vert="horz" lIns="91440" tIns="45720" rIns="91440" bIns="45720" rtlCol="0">
            <a:normAutofit/>
          </a:bodyPr>
          <a:lstStyle/>
          <a:p>
            <a:pPr indent="-228600" algn="l">
              <a:buFont typeface="Arial" panose="020B0604020202020204" pitchFamily="34" charset="0"/>
              <a:buChar char="•"/>
            </a:pPr>
            <a:r>
              <a:rPr lang="en-US" sz="1500"/>
              <a:t>Cloud computing enables organizations to:</a:t>
            </a:r>
          </a:p>
          <a:p>
            <a:pPr marL="285750" indent="-228600" algn="l">
              <a:buFont typeface="Arial" panose="020B0604020202020204" pitchFamily="34" charset="0"/>
              <a:buChar char="•"/>
            </a:pPr>
            <a:endParaRPr lang="en-US" sz="1500"/>
          </a:p>
          <a:p>
            <a:pPr marL="285750" indent="-228600" algn="l">
              <a:buFont typeface="Arial" panose="020B0604020202020204" pitchFamily="34" charset="0"/>
              <a:buChar char="•"/>
            </a:pPr>
            <a:r>
              <a:rPr lang="en-US" sz="1500"/>
              <a:t>Be more agile, innovate faster, and adapt to changing needs</a:t>
            </a:r>
          </a:p>
          <a:p>
            <a:pPr marL="285750" indent="-228600" algn="l">
              <a:buFont typeface="Arial" panose="020B0604020202020204" pitchFamily="34" charset="0"/>
              <a:buChar char="•"/>
            </a:pPr>
            <a:endParaRPr lang="en-US" sz="1500"/>
          </a:p>
          <a:p>
            <a:pPr marL="285750" indent="-228600" algn="l">
              <a:buFont typeface="Arial" panose="020B0604020202020204" pitchFamily="34" charset="0"/>
              <a:buChar char="•"/>
            </a:pPr>
            <a:r>
              <a:rPr lang="en-US" sz="1500"/>
              <a:t>Reduce costs and avoid large capital expenditures</a:t>
            </a:r>
          </a:p>
          <a:p>
            <a:pPr marL="285750" indent="-228600" algn="l">
              <a:buFont typeface="Arial" panose="020B0604020202020204" pitchFamily="34" charset="0"/>
              <a:buChar char="•"/>
            </a:pPr>
            <a:endParaRPr lang="en-US" sz="1500"/>
          </a:p>
          <a:p>
            <a:pPr marL="285750" indent="-228600" algn="l">
              <a:buFont typeface="Arial" panose="020B0604020202020204" pitchFamily="34" charset="0"/>
              <a:buChar char="•"/>
            </a:pPr>
            <a:r>
              <a:rPr lang="en-US" sz="1500"/>
              <a:t>Improve security, compliance, and disaster recovery capabilities</a:t>
            </a:r>
          </a:p>
          <a:p>
            <a:pPr marL="285750" indent="-228600" algn="l">
              <a:buFont typeface="Arial" panose="020B0604020202020204" pitchFamily="34" charset="0"/>
              <a:buChar char="•"/>
            </a:pPr>
            <a:endParaRPr lang="en-US" sz="1500"/>
          </a:p>
          <a:p>
            <a:pPr marL="285750" indent="-228600" algn="l">
              <a:buFont typeface="Arial" panose="020B0604020202020204" pitchFamily="34" charset="0"/>
              <a:buChar char="•"/>
            </a:pPr>
            <a:r>
              <a:rPr lang="en-US" sz="1500"/>
              <a:t>Unlock new opportunities through scalable, collaborative platforms</a:t>
            </a:r>
          </a:p>
          <a:p>
            <a:pPr marL="285750" indent="-228600" algn="l">
              <a:buFont typeface="Arial" panose="020B0604020202020204" pitchFamily="34" charset="0"/>
              <a:buChar char="•"/>
            </a:pPr>
            <a:endParaRPr lang="en-US" sz="1500"/>
          </a:p>
          <a:p>
            <a:pPr marL="285750" indent="-228600" algn="l">
              <a:buFont typeface="Arial" panose="020B0604020202020204" pitchFamily="34" charset="0"/>
              <a:buChar char="•"/>
            </a:pPr>
            <a:r>
              <a:rPr lang="en-US" sz="1500"/>
              <a:t>In summary, cloud computing is the foundation for solving modern IT challenges.</a:t>
            </a:r>
          </a:p>
        </p:txBody>
      </p:sp>
    </p:spTree>
    <p:extLst>
      <p:ext uri="{BB962C8B-B14F-4D97-AF65-F5344CB8AC3E}">
        <p14:creationId xmlns:p14="http://schemas.microsoft.com/office/powerpoint/2010/main" val="3983131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Freeform: Shape 5">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Freeform: Shape 6">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60D3D4-D336-48E7-814B-6A95AC5243EF}"/>
              </a:ext>
            </a:extLst>
          </p:cNvPr>
          <p:cNvSpPr>
            <a:spLocks noGrp="1"/>
          </p:cNvSpPr>
          <p:nvPr>
            <p:ph type="ctrTitle"/>
          </p:nvPr>
        </p:nvSpPr>
        <p:spPr>
          <a:xfrm>
            <a:off x="1524003" y="1999615"/>
            <a:ext cx="9144000" cy="2764028"/>
          </a:xfrm>
        </p:spPr>
        <p:txBody>
          <a:bodyPr anchor="ctr">
            <a:normAutofit/>
          </a:bodyPr>
          <a:lstStyle/>
          <a:p>
            <a:r>
              <a:rPr lang="en-IN" sz="7200" b="1">
                <a:latin typeface="Times New Roman" panose="02020603050405020304" pitchFamily="18" charset="0"/>
                <a:cs typeface="Times New Roman" panose="02020603050405020304" pitchFamily="18" charset="0"/>
              </a:rPr>
              <a:t>Thank You!</a:t>
            </a:r>
          </a:p>
        </p:txBody>
      </p:sp>
      <p:sp>
        <p:nvSpPr>
          <p:cNvPr id="3" name="Subtitle 2">
            <a:extLst>
              <a:ext uri="{FF2B5EF4-FFF2-40B4-BE49-F238E27FC236}">
                <a16:creationId xmlns:a16="http://schemas.microsoft.com/office/drawing/2014/main" id="{C01F683B-8463-D97E-B45D-E1856A544E81}"/>
              </a:ext>
            </a:extLst>
          </p:cNvPr>
          <p:cNvSpPr>
            <a:spLocks noGrp="1"/>
          </p:cNvSpPr>
          <p:nvPr>
            <p:ph type="subTitle" idx="1"/>
          </p:nvPr>
        </p:nvSpPr>
        <p:spPr>
          <a:xfrm>
            <a:off x="1966912" y="3557479"/>
            <a:ext cx="8258176" cy="3888591"/>
          </a:xfrm>
        </p:spPr>
        <p:txBody>
          <a:bodyPr anchor="ctr">
            <a:normAutofit/>
          </a:bodyPr>
          <a:lstStyle/>
          <a:p>
            <a:r>
              <a:rPr lang="en-US" sz="1800" dirty="0"/>
              <a:t>We appreciate your attention.</a:t>
            </a:r>
            <a:endParaRPr lang="en-US" sz="1800" b="1" dirty="0">
              <a:ea typeface="Calibri"/>
              <a:cs typeface="Calibri"/>
            </a:endParaRPr>
          </a:p>
          <a:p>
            <a:endParaRPr lang="en-US" sz="1800" dirty="0">
              <a:ea typeface="Calibri"/>
              <a:cs typeface="Calibri"/>
            </a:endParaRPr>
          </a:p>
          <a:p>
            <a:endParaRPr lang="en-US" sz="1800" dirty="0">
              <a:ea typeface="Calibri"/>
              <a:cs typeface="Calibri"/>
            </a:endParaRPr>
          </a:p>
          <a:p>
            <a:endParaRPr lang="en-US" sz="700" b="1"/>
          </a:p>
          <a:p>
            <a:endParaRPr lang="en-US" sz="700" b="1"/>
          </a:p>
          <a:p>
            <a:r>
              <a:rPr lang="en-US" sz="1600" b="1" dirty="0"/>
              <a:t>Questions &amp; Answers</a:t>
            </a:r>
            <a:endParaRPr lang="en-US" sz="1600" b="1">
              <a:ea typeface="Calibri"/>
              <a:cs typeface="Calibri"/>
            </a:endParaRPr>
          </a:p>
          <a:p>
            <a:r>
              <a:rPr lang="en-US" sz="1600" dirty="0"/>
              <a:t>Feel free to ask any questions or share your thoughts!</a:t>
            </a:r>
            <a:endParaRPr lang="en-US" sz="1600" dirty="0">
              <a:ea typeface="Calibri"/>
              <a:cs typeface="Calibri"/>
            </a:endParaRPr>
          </a:p>
          <a:p>
            <a:endParaRPr lang="en-US" sz="700"/>
          </a:p>
          <a:p>
            <a:br>
              <a:rPr lang="en-US" sz="700" dirty="0"/>
            </a:br>
            <a:endParaRPr lang="en-IN" sz="700"/>
          </a:p>
        </p:txBody>
      </p:sp>
      <p:sp>
        <p:nvSpPr>
          <p:cNvPr id="9" name="Rectangle 8">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9992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58</TotalTime>
  <Words>822</Words>
  <Application>Microsoft Office PowerPoint</Application>
  <PresentationFormat>Widescreen</PresentationFormat>
  <Paragraphs>78</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Title: Solving Modern IT Challenges with Cloud Computing</vt:lpstr>
      <vt:lpstr>Modern IT Challenges Facing Organizations: </vt:lpstr>
      <vt:lpstr>Impact of IT Challenges on Infrastructure &amp; Business</vt:lpstr>
      <vt:lpstr>What Is Cloud Computing?</vt:lpstr>
      <vt:lpstr>AWS and Its Cloud Services</vt:lpstr>
      <vt:lpstr>How Cloud Computing Helps Solve IT Challenges</vt:lpstr>
      <vt:lpstr>Examples of Cloud Solutions in Practice</vt:lpstr>
      <vt:lpstr>Key Benefits &amp;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Solving Modern IT Challenges with Cloud Computing</dc:title>
  <dc:creator>Sarthak Badoni</dc:creator>
  <cp:lastModifiedBy>SARTHAK  BADONI</cp:lastModifiedBy>
  <cp:revision>241</cp:revision>
  <dcterms:created xsi:type="dcterms:W3CDTF">2025-10-11T12:26:54Z</dcterms:created>
  <dcterms:modified xsi:type="dcterms:W3CDTF">2025-11-10T04:41:32Z</dcterms:modified>
</cp:coreProperties>
</file>